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Arial"/>
              </a:rPr>
              <a:t>All Models — Accuracy / F1-Score / ROC-AUC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79</c:v>
                </c:pt>
                <c:pt idx="2">
                  <c:v>83</c:v>
                </c:pt>
                <c:pt idx="3">
                  <c:v>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74</c:v>
                </c:pt>
                <c:pt idx="1">
                  <c:v>73</c:v>
                </c:pt>
                <c:pt idx="2">
                  <c:v>77</c:v>
                </c:pt>
                <c:pt idx="3">
                  <c:v>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85</c:v>
                </c:pt>
                <c:pt idx="1">
                  <c:v>82</c:v>
                </c:pt>
                <c:pt idx="2">
                  <c:v>87</c:v>
                </c:pt>
                <c:pt idx="3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2926080" cy="292608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31089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FINAL DATA SCIENCE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Identifying at-risk telecom customers using machine learning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drive proactive retention strategies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📅 Week 8 Submission  •  Dataset: Telco Customer Churn (Kaggle)  •  7,043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1097280"/>
            <a:ext cx="1097280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42416" y="9601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1168" y="1600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Definition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24966" y="1627632"/>
            <a:ext cx="123749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75232" y="1097280"/>
            <a:ext cx="1097280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16480" y="9601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648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75232" y="1600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Collection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99030" y="1627632"/>
            <a:ext cx="123749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9296" y="1097280"/>
            <a:ext cx="1097280" cy="1188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90544" y="9601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0544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9296" y="1600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Cleaning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&amp; EDA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73094" y="1627632"/>
            <a:ext cx="123749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1097280"/>
            <a:ext cx="109728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9601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0" y="1600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Engineering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47158" y="1627632"/>
            <a:ext cx="123749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97424" y="1097280"/>
            <a:ext cx="109728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38672" y="9601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8672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97424" y="1600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Building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21222" y="1627632"/>
            <a:ext cx="123749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71488" y="1097280"/>
            <a:ext cx="109728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12736" y="9601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12736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71488" y="1600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&amp; Results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95286" y="1627632"/>
            <a:ext cx="123749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45552" y="1097280"/>
            <a:ext cx="1097280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686800" y="9601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45552" y="16002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Insights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" y="2606040"/>
            <a:ext cx="182880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2920" y="2697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</a:rPr>
              <a:t>7,043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50292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Customers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606040" y="2606040"/>
            <a:ext cx="182880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606040" y="2697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</a:rPr>
              <a:t>26.5%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26060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Churn Rate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09160" y="2606040"/>
            <a:ext cx="182880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09160" y="2697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4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470916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ML Models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812280" y="2606040"/>
            <a:ext cx="182880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812280" y="2697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</a:rPr>
              <a:t>~88%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681228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Best AUC Score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096512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💡 Problem: Predict which telecom customers will churn so the business can offer targeted retention incentives before they leave — reducing revenue loss and increasing customer lifetime value.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&amp; Exploratory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2004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875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📦 Dataset Details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508760"/>
            <a:ext cx="3054096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54533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545336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Kaggle — Telco Churn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011680"/>
            <a:ext cx="305409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0482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Rows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048256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7,043 customers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514600"/>
            <a:ext cx="3054096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55117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Columns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2551176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21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017520"/>
            <a:ext cx="305409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0540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Target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3054096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Churn (Yes/No)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3520440"/>
            <a:ext cx="3054096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55701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Churn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45920" y="3557016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26.5% (imbalanced)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4023360"/>
            <a:ext cx="305409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405993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Missing 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0" y="4059936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TotalCharges (11 rows)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960120"/>
            <a:ext cx="52120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0" y="98755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🔍 Key EDA Findings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49040" y="1536192"/>
            <a:ext cx="5029200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157276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📉 Tenure Matters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22192" y="18105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Customers with &lt; 12 months tenure churn at 3x the rate of long-term customers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49040" y="2212848"/>
            <a:ext cx="5029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22192" y="224942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💸 High Charges = Risk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22192" y="24871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Churned customers pay avg. $74/month vs $61 for retained customers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49040" y="2889504"/>
            <a:ext cx="5029200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22192" y="292608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📄 Contract Type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22192" y="31638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Month-to-month contracts = 42% churn vs 11% for annual, 3% for 2-year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749040" y="3566160"/>
            <a:ext cx="50292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22192" y="360273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🌐 Fiber Optic Risk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22192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Fiber optic users churn at 41%, double the DSL rate of 19%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4242816"/>
            <a:ext cx="5029200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22192" y="427939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👴 Senior Citizens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22192" y="451713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Senior citizens churn at 41% vs 24% for non-seniors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Feature Engineering &amp; Model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Feature Engineering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536192"/>
            <a:ext cx="3785616" cy="658368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53619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81912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ChargesPerTenure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865376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Average monthly spend = TotalCharges ÷ tenure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286000"/>
            <a:ext cx="3785616" cy="658368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28600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31720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IsLongTerm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615184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Binary flag: customer tenure &gt; 24 months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035808"/>
            <a:ext cx="3785616" cy="658368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035808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081528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HasSupport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364992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if has OnlineSecurity OR TechSupport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785616"/>
            <a:ext cx="3785616" cy="658368"/>
          </a:xfrm>
          <a:prstGeom prst="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785616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831336"/>
            <a:ext cx="3584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TotalServices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4114800"/>
            <a:ext cx="3584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Count of subscribed services (0–6)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960120"/>
            <a:ext cx="44348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960120"/>
            <a:ext cx="443484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96012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ML Models Trained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07992" y="1536192"/>
            <a:ext cx="4288536" cy="64008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709928"/>
            <a:ext cx="320040" cy="3200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709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56048" y="159105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56048" y="18745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Baseline — fast, interpretable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07992" y="2286000"/>
            <a:ext cx="4288536" cy="64008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2459736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4597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56048" y="234086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56048" y="2624328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Visual, easy to explain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07992" y="3035808"/>
            <a:ext cx="4288536" cy="640080"/>
          </a:xfrm>
          <a:prstGeom prst="rect">
            <a:avLst/>
          </a:prstGeom>
          <a:solidFill>
            <a:srgbClr val="F8FAF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3209544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3209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56048" y="30906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56048" y="3374136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Ensemble, robust to noise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07992" y="3785616"/>
            <a:ext cx="4288536" cy="64008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3959352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959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56048" y="38404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Gradient Boosting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56048" y="4123944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Best performer — sequential learning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🔀  Pipeline: Train/Test Split (80/20)  →  StandardScaler  →  Model Training  →  Predict &amp; Evaluate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Evaluation Results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108960" cy="3017520"/>
          </a:xfrm>
          <a:prstGeom prst="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960120"/>
            <a:ext cx="310896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960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🏆  BEST 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0720" y="15727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Gradient Boosting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33872" y="2194560"/>
            <a:ext cx="1170432" cy="502920"/>
          </a:xfrm>
          <a:prstGeom prst="rect">
            <a:avLst/>
          </a:prstGeom>
          <a:solidFill>
            <a:srgbClr val="3B82F6">
              <a:alpha val="1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33872" y="2212848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</a:rPr>
              <a:t>84%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833872" y="246888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Accuracy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33872" y="2788920"/>
            <a:ext cx="1170432" cy="502920"/>
          </a:xfrm>
          <a:prstGeom prst="rect">
            <a:avLst/>
          </a:prstGeom>
          <a:solidFill>
            <a:srgbClr val="22C55E">
              <a:alpha val="1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33872" y="2807208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</a:rPr>
              <a:t>79%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833872" y="306324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F1-Score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086600" y="2194560"/>
            <a:ext cx="1170432" cy="502920"/>
          </a:xfrm>
          <a:prstGeom prst="rect">
            <a:avLst/>
          </a:prstGeom>
          <a:solidFill>
            <a:srgbClr val="EF4444">
              <a:alpha val="1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2212848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</a:rPr>
              <a:t>88%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086600" y="246888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ROC-AUC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086600" y="2788920"/>
            <a:ext cx="1170432" cy="502920"/>
          </a:xfrm>
          <a:prstGeom prst="rect">
            <a:avLst/>
          </a:prstGeom>
          <a:solidFill>
            <a:srgbClr val="0D9488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86600" y="2807208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9488"/>
                </a:solidFill>
              </a:rPr>
              <a:t>81%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086600" y="3063240"/>
            <a:ext cx="1170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Precision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60720" y="3401568"/>
            <a:ext cx="3108960" cy="5486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79008" y="3401568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350F"/>
                </a:solidFill>
              </a:rPr>
              <a:t>Correctly flags 4 out of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8350F"/>
                </a:solidFill>
              </a:rPr>
              <a:t>at-risk customers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411480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5720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🎯  Top Predictive Features: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572000"/>
            <a:ext cx="16459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tenure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212848" y="4572000"/>
            <a:ext cx="13716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12848" y="4572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MonthlyCharges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694176" y="4572000"/>
            <a:ext cx="1188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94176" y="4572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Contract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992624" y="4572000"/>
            <a:ext cx="10058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92624" y="4572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TotalCharges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108192" y="4572000"/>
            <a:ext cx="8229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08192" y="4572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InternetService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040880" y="4572000"/>
            <a:ext cx="6400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40880" y="45720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TechSupport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Business Insights &amp;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87552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307592"/>
            <a:ext cx="475488" cy="475488"/>
          </a:xfrm>
          <a:prstGeom prst="ellipse">
            <a:avLst/>
          </a:prstGeom>
          <a:solidFill>
            <a:srgbClr val="EF4444">
              <a:alpha val="13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10789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Target Month-to-Month Customers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41732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Offer 20% discount to upgrade to annual plans. Month-to-month customers churn at 42% — highest risk segment.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1343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13432"/>
            <a:ext cx="6400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633472"/>
            <a:ext cx="475488" cy="475488"/>
          </a:xfrm>
          <a:prstGeom prst="ellipse">
            <a:avLst/>
          </a:prstGeom>
          <a:solidFill>
            <a:srgbClr val="7C3AED">
              <a:alpha val="13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4128" y="24048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Early Tenure Intervention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74320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Launch onboarding program for new customers (&lt; 6 months). Most churn happens in the first year of service.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63931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639312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3959352"/>
            <a:ext cx="475488" cy="475488"/>
          </a:xfrm>
          <a:prstGeom prst="ellipse">
            <a:avLst/>
          </a:prstGeom>
          <a:solidFill>
            <a:srgbClr val="F59E0B">
              <a:alpha val="13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4128" y="37307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Review High Charge Packages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40690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Churned customers pay $13/month more on average. Review Fiber Optic pricing and offer value bundles.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9875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987552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10912" y="1307592"/>
            <a:ext cx="475488" cy="475488"/>
          </a:xfrm>
          <a:prstGeom prst="ellipse">
            <a:avLst/>
          </a:prstGeom>
          <a:solidFill>
            <a:srgbClr val="0D9488">
              <a:alpha val="13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96128" y="107899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Bundle Support Services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96128" y="141732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Customers with TechSupport + OnlineSecurity churn 28% less. Promote these as retention tools with discounts.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31343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313432"/>
            <a:ext cx="64008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10912" y="2633472"/>
            <a:ext cx="475488" cy="475488"/>
          </a:xfrm>
          <a:prstGeom prst="ellipse">
            <a:avLst/>
          </a:prstGeom>
          <a:solidFill>
            <a:srgbClr val="22C55E">
              <a:alpha val="13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96128" y="24048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Deploy Churn Scoring API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96128" y="274320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Integrate Gradient Boosting model into CRM. Auto-flag customers with churn probability &gt; 70% for outreach.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63931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639312"/>
            <a:ext cx="64008" cy="1188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10912" y="3959352"/>
            <a:ext cx="475488" cy="475488"/>
          </a:xfrm>
          <a:prstGeom prst="ellipse">
            <a:avLst/>
          </a:prstGeom>
          <a:solidFill>
            <a:srgbClr val="3B82F6">
              <a:alpha val="13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596128" y="373075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Monitor with Streamlit Dashboard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96128" y="40690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Build real-time dashboard showing churn risk scores by segment, monthly trends, and retention campaign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91440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</a:rPr>
              <a:t>Project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1920240" cy="1920240"/>
          </a:xfrm>
          <a:prstGeom prst="rect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00200"/>
            <a:ext cx="1920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00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 Solved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Predicted customer churn with 84% accuracy using Gradient Boosting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600200"/>
            <a:ext cx="1920240" cy="1920240"/>
          </a:xfrm>
          <a:prstGeom prst="rect">
            <a:avLst/>
          </a:prstGeom>
          <a:solidFill>
            <a:srgbClr val="1E3A5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600200"/>
            <a:ext cx="19202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600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Pipeline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2084832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Full ETL — cleaning, encoding, feature engineering on 7K+ rows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600200"/>
            <a:ext cx="1920240" cy="1920240"/>
          </a:xfrm>
          <a:prstGeom prst="rect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600200"/>
            <a:ext cx="1920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600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ML Models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2084832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Logistic Regression, Decision Tree, Random Forest, Gradient Boosting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600200"/>
            <a:ext cx="1920240" cy="1920240"/>
          </a:xfrm>
          <a:prstGeom prst="rect">
            <a:avLst/>
          </a:prstGeom>
          <a:solidFill>
            <a:srgbClr val="1E3A5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3136" y="1600200"/>
            <a:ext cx="192024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1600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Business Value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94576" y="2084832"/>
            <a:ext cx="1737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Identified top 5 retention strategies backed by data insights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243A5E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49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📦  Deliverables Submitted: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1605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✅  Jupyter Notebook (.ipynb)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480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✅  GitHub Repository + README.md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83480" y="41605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✅  Kaggle Dataset (Link Provided)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4480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✅  Presentation Slides (PDF/PPT)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Thank You  •  Questions Welcome  •  Prepared for Final Data Science Project — Week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</dc:title>
  <dc:subject>PptxGenJS Presentation</dc:subject>
  <dc:creator>Data Science Final Project</dc:creator>
  <cp:lastModifiedBy>Data Science Final Project</cp:lastModifiedBy>
  <cp:revision>1</cp:revision>
  <dcterms:created xsi:type="dcterms:W3CDTF">2026-05-01T11:29:22Z</dcterms:created>
  <dcterms:modified xsi:type="dcterms:W3CDTF">2026-05-01T11:29:22Z</dcterms:modified>
</cp:coreProperties>
</file>